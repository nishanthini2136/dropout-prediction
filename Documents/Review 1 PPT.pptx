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93" r:id="rId4"/>
    <p:sldId id="311" r:id="rId5"/>
    <p:sldId id="312" r:id="rId6"/>
    <p:sldId id="310" r:id="rId7"/>
    <p:sldId id="314" r:id="rId8"/>
    <p:sldId id="313" r:id="rId9"/>
    <p:sldId id="297" r:id="rId10"/>
    <p:sldId id="317" r:id="rId11"/>
    <p:sldId id="316" r:id="rId12"/>
    <p:sldId id="315" r:id="rId13"/>
    <p:sldId id="318" r:id="rId14"/>
    <p:sldId id="319" r:id="rId15"/>
    <p:sldId id="320" r:id="rId16"/>
    <p:sldId id="322" r:id="rId17"/>
    <p:sldId id="321" r:id="rId18"/>
    <p:sldId id="323" r:id="rId19"/>
    <p:sldId id="289" r:id="rId20"/>
  </p:sldIdLst>
  <p:sldSz cx="9144000" cy="6858000" type="screen4x3"/>
  <p:notesSz cx="6881813" cy="100155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2913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27-Jun-21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:notes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1-59</a:t>
            </a: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27-Jun-21</a:t>
            </a: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1167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00B0B-7BAE-C8CA-CEE4-C86466EA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793A4-664B-1585-793D-DD0DC47B4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6F3E3-42A4-441A-7EB7-ACF1A3241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70209-D8A2-269C-C297-0EA515F7E1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4648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B563-1E99-3A93-6504-0DBFC70F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78A4A-B316-04A6-BEFD-6F73FBFB8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12A30-B918-4C7C-31C0-5BE339C53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F7F7B-3B7F-A205-F961-3B320EDC21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8337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A40300A-0AC0-9A31-2451-B5536AB5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1DD5EAF-C01E-0A20-0FD5-051ED7366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DE7C28B8-BAD5-6EA0-89C3-67E4B6063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777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7703773-BE0C-DE96-624E-DC837C09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1837A87-290A-BE75-1093-31E49B4A6F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CB749688-ED65-449C-291A-4F92E8578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24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68C97612-2F0F-ED38-D62D-F29BCB38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3DFF9B7-1340-64C9-0168-6669A2BA4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86C6745E-F70C-9DA5-E344-E830A66633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4802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40F5AAD-CC53-7D35-1D5C-93AF6207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05DB6ED-35DF-ED3D-1902-7FECAFEC9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28C917DE-AD4F-53AD-35E2-F98C5F101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8202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193B75B0-F61B-52F8-C992-A81532CB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BC37649-5106-B8B6-F26A-8DCAAAA908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C0DDCEB1-3527-8A69-87F5-14A81ED4C2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8381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1619082-A989-C390-41A6-F12932F4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B9F1843-C20D-C426-67AB-B493A415F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C2BC1951-33D1-FA47-AFE7-A634E1E77F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3899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2FA04228-72D9-91BD-FF08-DA322ADA9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6AC8E4F-1033-0FB3-4BAB-F56E5D8C4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62FA3030-9BA2-AD8D-13DB-0ED8C6921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0266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FBC5D7E5-26B8-E57A-EC52-BDFE0F21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9376474-7BD1-0841-0ACE-1B9871D710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BF16290C-B0CC-5E8A-3357-2F68BE278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5373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A0C1BAFE-DE61-D38C-1600-B045DEB3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C1C3302-A3CA-BC0E-79ED-AE584E8AE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9F2B8FB1-C0DF-5730-CC1E-5AA013EC6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8472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A3FD9B63-4B5D-A2F6-A5DA-C41422BB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37203F4-C8B6-374C-826E-8D3D747EB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3E0F7A04-7FD1-29AD-F7C2-D2C53A046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4303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E74FD0E4-633F-CA42-3027-B7DE289D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3DF9E8F-8099-06BF-D7D5-05F281C54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D4CFCF66-079C-B65C-B6AE-F98741302F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467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63D2DEB7-9786-487A-776B-347B7C590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5D6FC56-BFB7-31DA-A6A5-283809A0F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B0A4BD6E-29EF-E2A9-2CE4-1AC4AF36B2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0633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9AA21963-C8A5-2FB8-AAE0-3903EB996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7A3C12E7-A007-B6B4-DD49-5750F6C94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65406004-6A56-1723-DCE6-B9D4818AD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2144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990"/>
              </a:buClr>
              <a:buSzPts val="5600"/>
              <a:buFont typeface="Arial"/>
              <a:buNone/>
              <a:defRPr sz="5600" b="1">
                <a:solidFill>
                  <a:srgbClr val="B3B99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F6C"/>
              </a:buClr>
              <a:buSzPts val="5600"/>
              <a:buFont typeface="Arial"/>
              <a:buNone/>
              <a:defRPr sz="5600" b="1" cap="none">
                <a:solidFill>
                  <a:srgbClr val="E8BF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AC5A27">
                  <a:alpha val="44313"/>
                </a:srgbClr>
              </a:gs>
              <a:gs pos="100000">
                <a:srgbClr val="9CA469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B8059">
                  <a:alpha val="29411"/>
                </a:srgbClr>
              </a:gs>
              <a:gs pos="80000">
                <a:srgbClr val="DB6923">
                  <a:alpha val="44313"/>
                </a:srgbClr>
              </a:gs>
              <a:gs pos="100000">
                <a:srgbClr val="DB6923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2377281" y="15081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1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5872367" y="4914040"/>
            <a:ext cx="3461461" cy="113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NISHANTHINI R – 23CSR148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RITHANYA R - 23CSR177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SRIDHAR K – 23CSL264 </a:t>
            </a:r>
            <a:endParaRPr sz="18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889295" y="1676624"/>
            <a:ext cx="5746701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3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22CSP72 – PROJECT WORK II PHASE </a:t>
            </a:r>
            <a:r>
              <a:rPr lang="en-IN" sz="2300" b="1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3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62645" y="4572963"/>
            <a:ext cx="27243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012227" y="2292180"/>
            <a:ext cx="7246530" cy="187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29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Hybrid ML-DL Framework for Early Dropout Prediction and Personalized Learning Interventions in E-Learning Systems</a:t>
            </a: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9966690A-A152-3F69-6987-6179CC0B1212}"/>
              </a:ext>
            </a:extLst>
          </p:cNvPr>
          <p:cNvSpPr txBox="1"/>
          <p:nvPr/>
        </p:nvSpPr>
        <p:spPr>
          <a:xfrm>
            <a:off x="2430419" y="4614993"/>
            <a:ext cx="214158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 :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M. Geetha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CBA3DD8-B2D3-F32C-B0C6-E9DD0033D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681E362-87F2-293A-0076-0DA300A028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E0E34D-CF40-0E4F-491B-BFCA4B320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267" y="80008"/>
            <a:ext cx="5388077" cy="14173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8A03BF-E05E-5F0A-79EE-BAEAE30CC562}"/>
              </a:ext>
            </a:extLst>
          </p:cNvPr>
          <p:cNvSpPr txBox="1"/>
          <p:nvPr/>
        </p:nvSpPr>
        <p:spPr>
          <a:xfrm>
            <a:off x="2430419" y="5262862"/>
            <a:ext cx="3566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Professor/CSE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7A8FEEF0-94EE-4DCC-1F8F-B2CEDF19C0AA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F43F256D-B354-4FF4-BDDC-EA9921053D6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9128" y="729687"/>
            <a:ext cx="1476375" cy="1381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02621E-DDC0-5668-B24C-A480FE22187D}"/>
              </a:ext>
            </a:extLst>
          </p:cNvPr>
          <p:cNvSpPr txBox="1"/>
          <p:nvPr/>
        </p:nvSpPr>
        <p:spPr>
          <a:xfrm>
            <a:off x="2434409" y="612617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20.07.2026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67174" y="313319"/>
            <a:ext cx="8157299" cy="78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700" b="1" dirty="0">
                <a:solidFill>
                  <a:srgbClr val="345D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700" dirty="0">
              <a:solidFill>
                <a:srgbClr val="345D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1119336" y="1278193"/>
            <a:ext cx="7905137" cy="4758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online courses but fail to complete them, reducing learner success and course completion rates.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identify at-risk students only after significant disengagement, limiting timely intervention.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approaches provide fixed recommendations that do not adapt to each student's learning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progress.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focus only on predicting the current dropout risk and do not forecast future risk trends or provide proactive learning plans.</a:t>
            </a:r>
          </a:p>
        </p:txBody>
      </p:sp>
      <p:sp>
        <p:nvSpPr>
          <p:cNvPr id="4" name="Date Placeholder 10">
            <a:extLst>
              <a:ext uri="{FF2B5EF4-FFF2-40B4-BE49-F238E27FC236}">
                <a16:creationId xmlns:a16="http://schemas.microsoft.com/office/drawing/2014/main" id="{4D483A76-2C2C-3748-EB05-DF5BE045EEB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526A-6227-AE4F-D038-E8F0E7DE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882" y="507443"/>
            <a:ext cx="5734105" cy="365125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BC202619-A6A8-E3A9-CB8B-933D342BE82E}"/>
              </a:ext>
            </a:extLst>
          </p:cNvPr>
          <p:cNvSpPr txBox="1">
            <a:spLocks/>
          </p:cNvSpPr>
          <p:nvPr/>
        </p:nvSpPr>
        <p:spPr>
          <a:xfrm>
            <a:off x="8772313" y="63776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65CC6-BE3E-B83F-29F0-965658DCA47E}"/>
              </a:ext>
            </a:extLst>
          </p:cNvPr>
          <p:cNvSpPr txBox="1"/>
          <p:nvPr/>
        </p:nvSpPr>
        <p:spPr>
          <a:xfrm>
            <a:off x="1071026" y="1147465"/>
            <a:ext cx="7816125" cy="561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hybrid Machine Learning and Deep Learning framework to predict student dropout at an early stage using behavioural and academic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future dropout risk trends using LSTM/GRU models to enable proactive identification of at-risk learners.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personalized learning recommendations and structured learning roadmaps based on each student's learning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predicted risk.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learner engagement, retention, and course completion by providing adaptive and data-driven intervention strategies.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39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121FF-C419-19AF-A811-36FB217F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F4E2-DA24-F269-72ED-7FB1FEF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527" y="653732"/>
            <a:ext cx="5734105" cy="365125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BF4D9657-E63E-DA80-3F79-EF4E281157B6}"/>
              </a:ext>
            </a:extLst>
          </p:cNvPr>
          <p:cNvSpPr txBox="1">
            <a:spLocks/>
          </p:cNvSpPr>
          <p:nvPr/>
        </p:nvSpPr>
        <p:spPr>
          <a:xfrm>
            <a:off x="8772313" y="63776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72260A-D274-4002-0429-14354E755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866964"/>
              </p:ext>
            </p:extLst>
          </p:nvPr>
        </p:nvGraphicFramePr>
        <p:xfrm>
          <a:off x="834791" y="1406014"/>
          <a:ext cx="8072285" cy="4798254"/>
        </p:xfrm>
        <a:graphic>
          <a:graphicData uri="http://schemas.openxmlformats.org/drawingml/2006/table">
            <a:tbl>
              <a:tblPr/>
              <a:tblGrid>
                <a:gridCol w="1614457">
                  <a:extLst>
                    <a:ext uri="{9D8B030D-6E8A-4147-A177-3AD203B41FA5}">
                      <a16:colId xmlns:a16="http://schemas.microsoft.com/office/drawing/2014/main" val="3845485951"/>
                    </a:ext>
                  </a:extLst>
                </a:gridCol>
                <a:gridCol w="1614457">
                  <a:extLst>
                    <a:ext uri="{9D8B030D-6E8A-4147-A177-3AD203B41FA5}">
                      <a16:colId xmlns:a16="http://schemas.microsoft.com/office/drawing/2014/main" val="2816971025"/>
                    </a:ext>
                  </a:extLst>
                </a:gridCol>
                <a:gridCol w="1614457">
                  <a:extLst>
                    <a:ext uri="{9D8B030D-6E8A-4147-A177-3AD203B41FA5}">
                      <a16:colId xmlns:a16="http://schemas.microsoft.com/office/drawing/2014/main" val="293581125"/>
                    </a:ext>
                  </a:extLst>
                </a:gridCol>
                <a:gridCol w="1614457">
                  <a:extLst>
                    <a:ext uri="{9D8B030D-6E8A-4147-A177-3AD203B41FA5}">
                      <a16:colId xmlns:a16="http://schemas.microsoft.com/office/drawing/2014/main" val="909709703"/>
                    </a:ext>
                  </a:extLst>
                </a:gridCol>
                <a:gridCol w="1614457">
                  <a:extLst>
                    <a:ext uri="{9D8B030D-6E8A-4147-A177-3AD203B41FA5}">
                      <a16:colId xmlns:a16="http://schemas.microsoft.com/office/drawing/2014/main" val="3654658908"/>
                    </a:ext>
                  </a:extLst>
                </a:gridCol>
              </a:tblGrid>
              <a:tr h="223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Model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707112"/>
                  </a:ext>
                </a:extLst>
              </a:tr>
              <a:tr h="1316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System for Personalized Interventions and Early Dropout Prediction in MOOCs (2022)</a:t>
                      </a:r>
                    </a:p>
                    <a:p>
                      <a:pPr>
                        <a:buNone/>
                      </a:pP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Genetic Algorithm (GA), Hybrid Feature Selection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 + GA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</a:t>
                      </a: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92.4%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temporal learning, No Explainable AI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647889"/>
                  </a:ext>
                </a:extLst>
              </a:tr>
              <a:tr h="1160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Modeling for Student Dropout Using Ensemble Deep Reinforcement Learning (2026)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DDQN, LSTM, XGBoost, LightGBM, CatBoost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EDRL (DDQN + LSTM + Ensemble)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</a:t>
                      </a: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95.6%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Explainable AI, No Personalized Recommendation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36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85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7502B-5474-DFB2-8D9C-86F5E927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6C8E-0310-3C38-22C9-91C39AFE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372" y="944948"/>
            <a:ext cx="5734105" cy="365125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8CEBDD2D-1E6A-49B7-0A45-4D50E1D5CF69}"/>
              </a:ext>
            </a:extLst>
          </p:cNvPr>
          <p:cNvSpPr txBox="1">
            <a:spLocks/>
          </p:cNvSpPr>
          <p:nvPr/>
        </p:nvSpPr>
        <p:spPr>
          <a:xfrm>
            <a:off x="8772313" y="63776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408B86-E9BA-348E-A21C-38EB75E6E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950649"/>
              </p:ext>
            </p:extLst>
          </p:nvPr>
        </p:nvGraphicFramePr>
        <p:xfrm>
          <a:off x="834791" y="1718853"/>
          <a:ext cx="8072285" cy="4011636"/>
        </p:xfrm>
        <a:graphic>
          <a:graphicData uri="http://schemas.openxmlformats.org/drawingml/2006/table">
            <a:tbl>
              <a:tblPr/>
              <a:tblGrid>
                <a:gridCol w="1614457">
                  <a:extLst>
                    <a:ext uri="{9D8B030D-6E8A-4147-A177-3AD203B41FA5}">
                      <a16:colId xmlns:a16="http://schemas.microsoft.com/office/drawing/2014/main" val="3130920384"/>
                    </a:ext>
                  </a:extLst>
                </a:gridCol>
                <a:gridCol w="1614457">
                  <a:extLst>
                    <a:ext uri="{9D8B030D-6E8A-4147-A177-3AD203B41FA5}">
                      <a16:colId xmlns:a16="http://schemas.microsoft.com/office/drawing/2014/main" val="1168265071"/>
                    </a:ext>
                  </a:extLst>
                </a:gridCol>
                <a:gridCol w="1614457">
                  <a:extLst>
                    <a:ext uri="{9D8B030D-6E8A-4147-A177-3AD203B41FA5}">
                      <a16:colId xmlns:a16="http://schemas.microsoft.com/office/drawing/2014/main" val="3048948216"/>
                    </a:ext>
                  </a:extLst>
                </a:gridCol>
                <a:gridCol w="1614457">
                  <a:extLst>
                    <a:ext uri="{9D8B030D-6E8A-4147-A177-3AD203B41FA5}">
                      <a16:colId xmlns:a16="http://schemas.microsoft.com/office/drawing/2014/main" val="3969069770"/>
                    </a:ext>
                  </a:extLst>
                </a:gridCol>
                <a:gridCol w="1614457">
                  <a:extLst>
                    <a:ext uri="{9D8B030D-6E8A-4147-A177-3AD203B41FA5}">
                      <a16:colId xmlns:a16="http://schemas.microsoft.com/office/drawing/2014/main" val="4243765549"/>
                    </a:ext>
                  </a:extLst>
                </a:gridCol>
              </a:tblGrid>
              <a:tr h="1472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Machine Learning-Based Framework for Dropout Prediction and Personalized Recommendation in E-Learning Systems (2026)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KNN Collaborative Filtering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Accuracy: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93.0%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F1-Score: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AUC: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recommendations, No future risk forecasting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133954"/>
                  </a:ext>
                </a:extLst>
              </a:tr>
              <a:tr h="1160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 (2026)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CatBoost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KNN, LSTM/GRU, SHAP, Adaptive Learning Roadmap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ML-DL Framework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to improve prediction accuracy, transparency, and learner retention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Overcomes limitations of existing systems</a:t>
                      </a:r>
                    </a:p>
                  </a:txBody>
                  <a:tcPr marL="55098" marR="55098" marT="27549" marB="275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71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5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61FA866-564A-355F-9AA9-EFA096B9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492BAE0-D6DA-F294-8035-40BB20BFC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9633" y="226590"/>
            <a:ext cx="7884367" cy="56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9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BASE PAPER SELECTION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31417E9F-BBDA-4F60-4E46-77A666FA5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3058" y="1398338"/>
            <a:ext cx="7884368" cy="489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 Intelligent System for Personalised Interventions and Early Drop-out Prediction in MOOCs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Details: 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and Education: Artificial Intelligence</a:t>
            </a: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</a:t>
            </a: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Feature Selection + Genetic Algorithm + Deep Learning</a:t>
            </a: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prediction accuracy (using KDD Cup 2015 and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XuetangX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MOOC datasets)</a:t>
            </a: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an intelligent system for early dropout prediction.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Hybrid Feature Selection to identify important learning features.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Genetic Algorithm to optimize model performance.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priority-based personalized interventions for at-risk students.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foundation for our hybrid dropout prediction framework. </a:t>
            </a:r>
          </a:p>
          <a:p>
            <a:pPr marL="137160" indent="0">
              <a:buNone/>
            </a:pPr>
            <a:endParaRPr lang="en-US" alt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685800-255B-1DEF-EF9D-0E0C2B29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55D8CE27-ACCC-0CA7-94EE-8F8DCF4B6731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0B687E-D181-C868-1F26-B0DC377A0C65}"/>
              </a:ext>
            </a:extLst>
          </p:cNvPr>
          <p:cNvSpPr txBox="1"/>
          <p:nvPr/>
        </p:nvSpPr>
        <p:spPr>
          <a:xfrm>
            <a:off x="3884293" y="900322"/>
            <a:ext cx="263504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1</a:t>
            </a:r>
          </a:p>
        </p:txBody>
      </p:sp>
    </p:spTree>
    <p:extLst>
      <p:ext uri="{BB962C8B-B14F-4D97-AF65-F5344CB8AC3E}">
        <p14:creationId xmlns:p14="http://schemas.microsoft.com/office/powerpoint/2010/main" val="335648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4BFD6C4C-CA37-4730-EF6C-97573BFC7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81D4DC16-0690-0F19-1715-D54CB86940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9633" y="285136"/>
            <a:ext cx="7884367" cy="56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9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BASE PAPER SELECTION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64A5DDF1-A441-19DA-72DB-4BF83AA88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3058" y="1398338"/>
            <a:ext cx="7884368" cy="489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Predictive 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 Dropout in Online Courses Using Ensemble Deep Reinforcement Learning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Details:</a:t>
            </a:r>
          </a:p>
          <a:p>
            <a:pPr marL="13716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 </a:t>
            </a:r>
          </a:p>
          <a:p>
            <a:pPr marL="13716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DDQN + LSTM +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(Ensemble)</a:t>
            </a:r>
          </a:p>
          <a:p>
            <a:pPr marL="13716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prediction performance using the OULAD dataset</a:t>
            </a:r>
          </a:p>
          <a:p>
            <a:pPr marL="13716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Deep Reinforcement Learning (DDQN) for automatic feature selection.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LSTM to capture temporal learning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ML models through ensemble learning for improved accuracy.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robust early dropout prediction.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ideas for building an advanced hybrid ML-DL prediction model.</a:t>
            </a:r>
          </a:p>
          <a:p>
            <a:pPr marL="137160" indent="0">
              <a:buNone/>
            </a:pPr>
            <a:endParaRPr lang="en-US" alt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3A01856-347D-3E0C-5F73-50D25800C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099F56A5-CA9B-AE58-03CC-285A3D5F6BB5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71776-92BB-4F82-7B83-C9BEFCE9069D}"/>
              </a:ext>
            </a:extLst>
          </p:cNvPr>
          <p:cNvSpPr txBox="1"/>
          <p:nvPr/>
        </p:nvSpPr>
        <p:spPr>
          <a:xfrm>
            <a:off x="3844413" y="929595"/>
            <a:ext cx="181171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2</a:t>
            </a:r>
          </a:p>
        </p:txBody>
      </p:sp>
    </p:spTree>
    <p:extLst>
      <p:ext uri="{BB962C8B-B14F-4D97-AF65-F5344CB8AC3E}">
        <p14:creationId xmlns:p14="http://schemas.microsoft.com/office/powerpoint/2010/main" val="274873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1D1366E4-E8CA-8653-F6DF-E04EC0C90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02F9FE43-8D77-EDF1-C751-3C0AF151BD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0040" y="285136"/>
            <a:ext cx="7884367" cy="56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9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BASE PAPER SELECTION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66E38AB-A02A-D580-7D38-3AC71865C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3058" y="1349176"/>
            <a:ext cx="7884368" cy="489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Learning-Based Framework for Dropout Prediction and Personalized Recommendation in E-Learning Systems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Details: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KNN Collaborative Recommendation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prediction accuracy with personalized recommendation framework</a:t>
            </a:r>
          </a:p>
          <a:p>
            <a:pPr marL="13716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dropout prediction.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recommendations using KNN.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important student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peer-based recommendation for learning support.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Inspired our personalized intervention module.</a:t>
            </a:r>
          </a:p>
          <a:p>
            <a:pPr marL="137160" indent="0"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04D7653-CD3F-D229-C145-C2D53F542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B83D69BD-C76F-C5FD-9FBB-11915662063F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1DA32A-73AE-3761-32CD-173E01995E67}"/>
              </a:ext>
            </a:extLst>
          </p:cNvPr>
          <p:cNvSpPr txBox="1"/>
          <p:nvPr/>
        </p:nvSpPr>
        <p:spPr>
          <a:xfrm>
            <a:off x="3789784" y="875071"/>
            <a:ext cx="22909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3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388059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DCFAAC2-64D6-E1E1-BCC5-108750E4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D907554-39ED-5512-169A-D0068C0CEA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7946" y="274635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RESEARCH GAP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CE71296-434B-54F9-7096-995FAD693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447" y="1314466"/>
            <a:ext cx="8529481" cy="515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predict student dropout but do not clearly explain the reasons behind the prediction. 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approaches use either Machine Learning or Deep Learning alone, limiting prediction performance. 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intervention methods provide generic or static recommendations instead of adaptive learning support.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no unified framework that combines Hybrid ML-DL, Explainable AI, and personalized learning interventions.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6C7A55-11D4-BBD3-2B0F-F0E127A63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F8FCA90E-DA8C-08D8-5265-C20787A8EC3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740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069F6589-124D-9282-68C2-50EC2F771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8AB88516-6604-7C05-F63C-9EB712357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7946" y="274635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NOVELTY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8A805296-F2FF-0B65-E825-170B36D61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2832" y="1392248"/>
            <a:ext cx="8529481" cy="515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Hybrid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for accurate early dropout prediction by combining Machine Learning and Deep Learning. 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SHAP-based Explainable AI to provide clear reasons behind each student's dropout prediction. 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Adaptive Personalized Learning Intervention that generates customized learning paths based on individual student performance.</a:t>
            </a:r>
            <a:endParaRPr lang="en-US" alt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778A869-DC84-EE2D-1DC4-CFC73CA81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E7ABF5A9-AAA1-385A-04D6-2D7CDE5D93CB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55054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0971A68C-AF0B-A12C-3815-3968BCAB7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514B23E-0E7D-7E7C-E4E0-B59E35D1A1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5095" y="125601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ARCHITECTURE DIAGRAM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3619E90-AFA0-F6B7-9359-0AB1DD2A6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161F0F4E-E1A7-1864-1596-78C3FDB10A43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369A9-53F0-01C7-F84F-280E8E2C1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" y="1149469"/>
            <a:ext cx="8416413" cy="558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71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28A466F8-44EC-F0B3-F72E-8F82ACB2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B0A21D5A-5968-842B-4F27-0958ED544E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9801" y="802515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ROPOSED WORK WITH PLANNED INNOVATION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0C9A2BE-431A-8C4C-535B-18DAC463D3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7093" y="1775383"/>
            <a:ext cx="6440129" cy="207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dropout prediction using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using KNN.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risk forecasting using LSTM/GRU.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student &amp; faculty dashboards.</a:t>
            </a: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BD88F7C-3BBE-64AA-CD98-4441612D7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CB95BDC7-A68F-7261-2765-47B7225E5564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D6E5C3-1B01-6235-6E5B-962C5CAC2D0B}"/>
              </a:ext>
            </a:extLst>
          </p:cNvPr>
          <p:cNvSpPr txBox="1"/>
          <p:nvPr/>
        </p:nvSpPr>
        <p:spPr>
          <a:xfrm>
            <a:off x="1339126" y="4432172"/>
            <a:ext cx="4567276" cy="25707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Explainable AI.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roadmap.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intervention optimization.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92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3610B554-2683-D1AD-4F3D-ABACC159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88B7E46E-0445-078C-08C1-DFE06D489C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1535" y="346199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 OF THE PROJECT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A03C349D-9344-BA94-0FCC-5F36DB0A1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1535" y="1354214"/>
            <a:ext cx="8885902" cy="515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Registration &amp; Course Management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Student Learning &amp; Activity Tracking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Collection &amp; Preprocessing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Early Dropout Prediction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Personalized Recommendation System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Weekly Risk Forecasting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Personalized Learning Roadmap &amp; Student Dashboard</a:t>
            </a:r>
          </a:p>
          <a:p>
            <a:pPr marL="13716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Admin Dashboard &amp; Adaptive Intervention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7CAE0F-9EE1-7A12-8FB2-C2ECD595B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62933BD1-1CE2-0688-0549-7CC2F5C55170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51212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7204F916-AE8E-83EF-0DF1-FE9E3C6E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F3103ADC-63DD-BDDA-364E-DBB5E860C5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16" y="133903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453C6D1E-2CE1-E3CA-4CCC-978E2DF58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51676" y="1093189"/>
            <a:ext cx="5752706" cy="588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 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 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(Early Dropout Prediction) 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 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Recommendation Engine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 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(Weekly Risk Forecasting)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 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Roadmap                             	    ↓ 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Intervention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 </a:t>
            </a:r>
          </a:p>
          <a:p>
            <a:pPr marL="2286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  <a:p>
            <a:pPr marL="13716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43B9FF-B609-E1A1-4777-555770618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1474EFD4-FF39-BA2A-3EA5-51627C5604A0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0994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423D4FFF-4A23-FE0B-3FBE-248925D3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C8284926-E299-5C80-DCCE-AC26067057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0361" y="264415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EXPECTED OUTCOME</a:t>
            </a: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B0CAA5AA-2A26-CA37-1A90-84B9FB189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361" y="1209686"/>
            <a:ext cx="7513200" cy="515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system for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early prediction of student dropout risk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Hybrid ML-DL framework.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recommendations and study roadmaps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student engagement and learning outcomes. Forecast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dropout risk trends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deep learning models, enabling proactive intervention before students disengage.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retention, course completion rates, and overall academic performance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adaptive and data-driven interventions.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88D0428-30C0-35E8-6F8C-04FE2EA04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5EC1246E-3EAD-0C2D-7055-9D8538FB55A6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75339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207AEBDC-4B39-919A-F56F-B6BD2534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A982BE6A-64B1-7E23-A35B-DD8B39E81B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1870" y="0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C94D2D-C50B-44A7-E84A-0E0477394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96149D35-788C-19C9-B3A4-F960F386F659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F06990-B2A3-551B-4D5A-487E22ADE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70" y="1234601"/>
            <a:ext cx="7582026" cy="477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46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032581ED-DB3C-5E1E-8BC6-C21BA029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9A4F5AEA-C5C1-D787-CB50-57E59E024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1870" y="0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ECF9D69-E0B3-F44A-2342-B1ECDEB65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2BB4A5CE-B98C-FD9B-171E-F827818EDABF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EA4F2-CC4B-77F6-D1F1-E381DEA06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42" y="1119482"/>
            <a:ext cx="7849695" cy="1848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6D4D75-89D7-9AFA-6B25-902B3E1B5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542" y="3261672"/>
            <a:ext cx="7849695" cy="327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78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3A454266-D1E7-0F7C-4CDD-ADA642114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86A1F70-8FDE-C133-A299-C60210365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1870" y="0"/>
            <a:ext cx="7884367" cy="82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GIT DOCUMENTATION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0658A87-170D-F0DE-2336-0886D22C7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9AD10695-F489-D22F-CDE0-7E84DD9C0662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91463-C386-4DF4-1E6E-C567199BA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7" y="1140552"/>
            <a:ext cx="8242384" cy="49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52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0A4E1-CCDB-8D11-DCE2-D4AE1D555253}"/>
              </a:ext>
            </a:extLst>
          </p:cNvPr>
          <p:cNvSpPr txBox="1"/>
          <p:nvPr/>
        </p:nvSpPr>
        <p:spPr>
          <a:xfrm>
            <a:off x="1905895" y="2408345"/>
            <a:ext cx="55071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81FCBF3A-57F9-8DE6-44A4-36CEE7280C2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38588527"/>
      </p:ext>
    </p:extLst>
  </p:cSld>
  <p:clrMapOvr>
    <a:masterClrMapping/>
  </p:clrMapOvr>
</p:sld>
</file>

<file path=ppt/theme/theme1.xml><?xml version="1.0" encoding="utf-8"?>
<a:theme xmlns:a="http://schemas.openxmlformats.org/drawingml/2006/main" name="1_Flow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3253</TotalTime>
  <Words>1033</Words>
  <Application>Microsoft Office PowerPoint</Application>
  <PresentationFormat>On-screen Show (4:3)</PresentationFormat>
  <Paragraphs>169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Noto Sans Symbols</vt:lpstr>
      <vt:lpstr>Times New Roman</vt:lpstr>
      <vt:lpstr>Wingdings</vt:lpstr>
      <vt:lpstr>1_Flow</vt:lpstr>
      <vt:lpstr>PowerPoint Presentation</vt:lpstr>
      <vt:lpstr>PROBLEM STATEMENT</vt:lpstr>
      <vt:lpstr>OBJECTIVE</vt:lpstr>
      <vt:lpstr>LITERATURE SURVEY</vt:lpstr>
      <vt:lpstr>LITERATURE SURVEY</vt:lpstr>
      <vt:lpstr>BASE PAPER SELECTION</vt:lpstr>
      <vt:lpstr>BASE PAPER SELECTION</vt:lpstr>
      <vt:lpstr>BASE PAPER SELECTION</vt:lpstr>
      <vt:lpstr>RESEARCH GAP</vt:lpstr>
      <vt:lpstr>NOVELTY</vt:lpstr>
      <vt:lpstr>ARCHITECTURE DIAGRAM</vt:lpstr>
      <vt:lpstr>PROPOSED WORK WITH PLANNED INNOVATION</vt:lpstr>
      <vt:lpstr>MODULES OF THE PROJECT</vt:lpstr>
      <vt:lpstr>METHODOLOGY</vt:lpstr>
      <vt:lpstr>EXPECTED OUTCOME</vt:lpstr>
      <vt:lpstr>IMPLEMENTATION</vt:lpstr>
      <vt:lpstr>IMPLEMENTATION</vt:lpstr>
      <vt:lpstr>GIT DOCUMENTATION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Nanthitha Ponnusamy</dc:creator>
  <cp:lastModifiedBy>Rithanya R</cp:lastModifiedBy>
  <cp:revision>37</cp:revision>
  <dcterms:modified xsi:type="dcterms:W3CDTF">2026-07-20T08:45:51Z</dcterms:modified>
</cp:coreProperties>
</file>