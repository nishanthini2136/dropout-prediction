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93" r:id="rId4"/>
    <p:sldId id="296" r:id="rId5"/>
    <p:sldId id="310" r:id="rId6"/>
    <p:sldId id="297" r:id="rId7"/>
    <p:sldId id="289" r:id="rId8"/>
  </p:sldIdLst>
  <p:sldSz cx="9144000" cy="6858000" type="screen4x3"/>
  <p:notesSz cx="6881813" cy="100155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82913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12300"/>
            <a:ext cx="2982913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1:notes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27-Jun-21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1:notes"/>
          <p:cNvSpPr txBox="1">
            <a:spLocks noGrp="1"/>
          </p:cNvSpPr>
          <p:nvPr>
            <p:ph type="ftr" idx="11"/>
          </p:nvPr>
        </p:nvSpPr>
        <p:spPr>
          <a:xfrm>
            <a:off x="0" y="9512300"/>
            <a:ext cx="2982913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1-59</a:t>
            </a: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27-Jun-21</a:t>
            </a:r>
            <a:endParaRPr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E7E87A8-D07C-D2B2-67F3-28B9734BB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AD889DA-79A9-9F55-0A3F-CBB0ED48E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9A695A20-9CFE-54C6-0773-8ED18D597D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6916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7A40300A-0AC0-9A31-2451-B5536AB5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1DD5EAF-C01E-0A20-0FD5-051ED7366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DE7C28B8-BAD5-6EA0-89C3-67E4B6063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9777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40F5AAD-CC53-7D35-1D5C-93AF6207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05DB6ED-35DF-ED3D-1902-7FECAFEC9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28C917DE-AD4F-53AD-35E2-F98C5F101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8202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990"/>
              </a:buClr>
              <a:buSzPts val="5600"/>
              <a:buFont typeface="Arial"/>
              <a:buNone/>
              <a:defRPr sz="5600" b="1">
                <a:solidFill>
                  <a:srgbClr val="B3B99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F6C"/>
              </a:buClr>
              <a:buSzPts val="5600"/>
              <a:buFont typeface="Arial"/>
              <a:buNone/>
              <a:defRPr sz="5600" b="1" cap="none">
                <a:solidFill>
                  <a:srgbClr val="E8BF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9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AC5A27">
                  <a:alpha val="44313"/>
                </a:srgbClr>
              </a:gs>
              <a:gs pos="100000">
                <a:srgbClr val="9CA469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B8059">
                  <a:alpha val="29411"/>
                </a:srgbClr>
              </a:gs>
              <a:gs pos="80000">
                <a:srgbClr val="DB6923">
                  <a:alpha val="44313"/>
                </a:srgbClr>
              </a:gs>
              <a:gs pos="100000">
                <a:srgbClr val="DB6923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 rot="5400000">
            <a:off x="2377281" y="15081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1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5545393" y="5465346"/>
            <a:ext cx="3461461" cy="41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NISHANTHINI R - 23CSR148 </a:t>
            </a:r>
            <a:endParaRPr sz="18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889295" y="1676624"/>
            <a:ext cx="5746701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22CSP72 – PROJECT WORK II PHASE </a:t>
            </a:r>
            <a:r>
              <a:rPr lang="en-IN" sz="2300" b="1" dirty="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23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62645" y="5095732"/>
            <a:ext cx="272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dirty="0">
              <a:solidFill>
                <a:srgbClr val="00206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082831" y="2777640"/>
            <a:ext cx="7246530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System for Personalised Interventions and Early Drop-out Prediction in MOOCs</a:t>
            </a:r>
            <a:endParaRPr lang="en-IN" sz="25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9966690A-A152-3F69-6987-6179CC0B1212}"/>
              </a:ext>
            </a:extLst>
          </p:cNvPr>
          <p:cNvSpPr txBox="1"/>
          <p:nvPr/>
        </p:nvSpPr>
        <p:spPr>
          <a:xfrm>
            <a:off x="2430419" y="5049609"/>
            <a:ext cx="214158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 :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M. Geetha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CBA3DD8-B2D3-F32C-B0C6-E9DD0033D3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681E362-87F2-293A-0076-0DA300A028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E0E34D-CF40-0E4F-491B-BFCA4B320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267" y="80008"/>
            <a:ext cx="5388077" cy="14173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8A03BF-E05E-5F0A-79EE-BAEAE30CC562}"/>
              </a:ext>
            </a:extLst>
          </p:cNvPr>
          <p:cNvSpPr txBox="1"/>
          <p:nvPr/>
        </p:nvSpPr>
        <p:spPr>
          <a:xfrm>
            <a:off x="2430419" y="5665121"/>
            <a:ext cx="3566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Professor/CSE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7A8FEEF0-94EE-4DCC-1F8F-B2CEDF19C0AA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F43F256D-B354-4FF4-BDDC-EA9921053D6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9128" y="788679"/>
            <a:ext cx="1476375" cy="1381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7A485D-C06C-A07E-3A98-9870C73AB22C}"/>
              </a:ext>
            </a:extLst>
          </p:cNvPr>
          <p:cNvSpPr txBox="1"/>
          <p:nvPr/>
        </p:nvSpPr>
        <p:spPr>
          <a:xfrm>
            <a:off x="4329580" y="2283750"/>
            <a:ext cx="275303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67176" y="440232"/>
            <a:ext cx="8157299" cy="78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700" b="1" dirty="0">
                <a:solidFill>
                  <a:srgbClr val="345D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AND PROBLEM</a:t>
            </a:r>
            <a:br>
              <a:rPr lang="en-US" sz="2700" b="1" dirty="0">
                <a:solidFill>
                  <a:srgbClr val="345D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b="1" dirty="0">
                <a:solidFill>
                  <a:srgbClr val="345D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</a:t>
            </a:r>
            <a:endParaRPr sz="2700" dirty="0">
              <a:solidFill>
                <a:srgbClr val="345D7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67176" y="1229031"/>
            <a:ext cx="7905137" cy="4758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Open Online Courses (MOOCs) have transformed online education by providing flexible, accessible, and self-paced learning opportunities to millions of learners worldwide.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MOOCs experience high dropout rates and low course completion, making student retention a major challenge.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dropout prediction systems often identify at-risk students too late and primarily focus on prediction without offering personalized learning support.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proposes a Hybrid ML-DL framework that enables early dropout prediction,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delivers personalized interventions.</a:t>
            </a:r>
          </a:p>
        </p:txBody>
      </p:sp>
      <p:sp>
        <p:nvSpPr>
          <p:cNvPr id="4" name="Date Placeholder 10">
            <a:extLst>
              <a:ext uri="{FF2B5EF4-FFF2-40B4-BE49-F238E27FC236}">
                <a16:creationId xmlns:a16="http://schemas.microsoft.com/office/drawing/2014/main" id="{4D483A76-2C2C-3748-EB05-DF5BE045EEB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526A-6227-AE4F-D038-E8F0E7DE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2037" y="382230"/>
            <a:ext cx="5734105" cy="365125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8" name="Date Placeholder 10">
            <a:extLst>
              <a:ext uri="{FF2B5EF4-FFF2-40B4-BE49-F238E27FC236}">
                <a16:creationId xmlns:a16="http://schemas.microsoft.com/office/drawing/2014/main" id="{BC202619-A6A8-E3A9-CB8B-933D342BE82E}"/>
              </a:ext>
            </a:extLst>
          </p:cNvPr>
          <p:cNvSpPr txBox="1">
            <a:spLocks/>
          </p:cNvSpPr>
          <p:nvPr/>
        </p:nvSpPr>
        <p:spPr>
          <a:xfrm>
            <a:off x="8772313" y="637766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C76BE-DC5E-056C-7442-474779392CB0}"/>
              </a:ext>
            </a:extLst>
          </p:cNvPr>
          <p:cNvSpPr txBox="1"/>
          <p:nvPr/>
        </p:nvSpPr>
        <p:spPr>
          <a:xfrm>
            <a:off x="985683" y="1058859"/>
            <a:ext cx="757821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KDD Cup 2015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XuetangX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MOOC)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(</a:t>
            </a:r>
            <a:r>
              <a:rPr lang="en-IN" sz="2000" dirty="0"/>
              <a:t>Synthetic Minority Oversampling Technique)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Feature Selection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&amp; Ridge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RFE </a:t>
            </a:r>
            <a:r>
              <a:rPr lang="en-IN" sz="2000" dirty="0"/>
              <a:t>(Recursive Feature Elimination)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Models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 (GA)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(DL)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65CC6-BE3E-B83F-29F0-965658DCA47E}"/>
              </a:ext>
            </a:extLst>
          </p:cNvPr>
          <p:cNvSpPr txBox="1"/>
          <p:nvPr/>
        </p:nvSpPr>
        <p:spPr>
          <a:xfrm>
            <a:off x="4680671" y="5198497"/>
            <a:ext cx="329380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Dropout Prediction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Intervention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39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16064C28-75DA-684D-D6B2-35FC15B6C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57CAD1F9-C9AA-8D96-6C18-2ECC6EF8A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3752" y="335494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MODELS &amp; PERSONALIZED INTERVENTIONS</a:t>
            </a:r>
            <a:endParaRPr sz="2800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1F7507FB-311E-7B46-54C9-93BA7C2A7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5514" y="1964307"/>
            <a:ext cx="8812680" cy="396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 (GA)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Optimizes model parameters.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(DL)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Predicts early student dropout.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Moving Average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–Forecasts weekly dropout probability.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Clustering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Groups learners based on learning behaviour. 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Interventions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Recommends targeted learning support.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Improve student engagement and course completion.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EF219F-9AD7-A828-780F-7750A3440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78" y="-4916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70E96E4F-60D7-6C99-BBB0-98EFC88B6EC7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65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61FA866-564A-355F-9AA9-EFA096B9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5492BAE0-D6DA-F294-8035-40BB20BFC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7946" y="412956"/>
            <a:ext cx="7884367" cy="56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9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RESULTS AND KEY FINDINGS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31417E9F-BBDA-4F60-4E46-77A666FA59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02890" y="1476994"/>
            <a:ext cx="7884368" cy="1853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>
              <a:buNone/>
            </a:pPr>
            <a:r>
              <a:rPr lang="en-I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 Accuracy: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93.3%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Accuracy: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94.3%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AUC-ROC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reliable dropout prediction.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training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hybrid feature selection.</a:t>
            </a:r>
          </a:p>
          <a:p>
            <a:pPr lvl="1"/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685800-255B-1DEF-EF9D-0E0C2B299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55D8CE27-ACCC-0CA7-94EE-8F8DCF4B6731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AA7A34-D6AC-5F62-BC37-998BACE9963E}"/>
              </a:ext>
            </a:extLst>
          </p:cNvPr>
          <p:cNvSpPr txBox="1"/>
          <p:nvPr/>
        </p:nvSpPr>
        <p:spPr>
          <a:xfrm>
            <a:off x="1098787" y="3527021"/>
            <a:ext cx="7462684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prediction improves student retention.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Feature Selection enhances model performance.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interventions increase learner engagement.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outperformed the Genetic Algorithm in prediction accuracy.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482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DCFAAC2-64D6-E1E1-BCC5-108750E4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3D907554-39ED-5512-169A-D0068C0CEA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7946" y="687326"/>
            <a:ext cx="7884367" cy="82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</a:t>
            </a:r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SCOPE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CE71296-434B-54F9-7096-995FAD693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7259" y="1941301"/>
            <a:ext cx="8529481" cy="399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Hybrid ML-DL framework enables early dropout prediction and personalized learning interventions, improving student engagement and retention. Future work includes Explainable AI, real-time prediction, AI-driven recommendations and adaptive learning support.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F6C7A55-11D4-BBD3-2B0F-F0E127A63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F8FCA90E-DA8C-08D8-5265-C20787A8EC3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07406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0A4E1-CCDB-8D11-DCE2-D4AE1D555253}"/>
              </a:ext>
            </a:extLst>
          </p:cNvPr>
          <p:cNvSpPr txBox="1"/>
          <p:nvPr/>
        </p:nvSpPr>
        <p:spPr>
          <a:xfrm>
            <a:off x="1905895" y="2408345"/>
            <a:ext cx="55071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81FCBF3A-57F9-8DE6-44A4-36CEE7280C2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38588527"/>
      </p:ext>
    </p:extLst>
  </p:cSld>
  <p:clrMapOvr>
    <a:masterClrMapping/>
  </p:clrMapOvr>
</p:sld>
</file>

<file path=ppt/theme/theme1.xml><?xml version="1.0" encoding="utf-8"?>
<a:theme xmlns:a="http://schemas.openxmlformats.org/drawingml/2006/main" name="1_Flow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2696</TotalTime>
  <Words>372</Words>
  <Application>Microsoft Office PowerPoint</Application>
  <PresentationFormat>On-screen Show (4:3)</PresentationFormat>
  <Paragraphs>67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Noto Sans Symbols</vt:lpstr>
      <vt:lpstr>Times New Roman</vt:lpstr>
      <vt:lpstr>Wingdings</vt:lpstr>
      <vt:lpstr>1_Flow</vt:lpstr>
      <vt:lpstr>PowerPoint Presentation</vt:lpstr>
      <vt:lpstr>INTRODUCTION AND PROBLEM  STATEMENT</vt:lpstr>
      <vt:lpstr>PROPOSED METHODOLOGY</vt:lpstr>
      <vt:lpstr>PREDICTION MODELS &amp; PERSONALIZED INTERVENTIONS</vt:lpstr>
      <vt:lpstr>RESULTS AND KEY FINDINGS</vt:lpstr>
      <vt:lpstr>CONCLUSION AND FUTURE 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Nanthitha Ponnusamy</dc:creator>
  <cp:lastModifiedBy>Nishanthini R</cp:lastModifiedBy>
  <cp:revision>35</cp:revision>
  <dcterms:modified xsi:type="dcterms:W3CDTF">2026-07-13T06:02:54Z</dcterms:modified>
</cp:coreProperties>
</file>